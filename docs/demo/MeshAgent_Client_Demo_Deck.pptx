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Inter" charset="-122" pitchFamily="34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1905000" y="1333500"/>
            <a:ext cx="12446000" cy="6350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" name="rail"/>
          <p:cNvSpPr/>
          <p:nvPr/>
        </p:nvSpPr>
        <p:spPr>
          <a:xfrm>
            <a:off x="1905000" y="1333500"/>
            <a:ext cx="12446000" cy="76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4" name="logo-bg"/>
          <p:cNvSpPr/>
          <p:nvPr/>
        </p:nvSpPr>
        <p:spPr>
          <a:xfrm>
            <a:off x="7493000" y="1968500"/>
            <a:ext cx="1270000" cy="1270000"/>
          </a:xfrm>
          <a:prstGeom prst="roundRect">
            <a:avLst>
              <a:gd name="adj" fmla="val 24000"/>
            </a:avLst>
          </a:prstGeom>
          <a:solidFill>
            <a:srgbClr val="0F766E"/>
          </a:solidFill>
          <a:ln/>
        </p:spPr>
      </p:sp>
      <p:pic>
        <p:nvPicPr>
          <p:cNvPr id="5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800" y="2273300"/>
            <a:ext cx="660400" cy="660400"/>
          </a:xfrm>
          <a:prstGeom prst="rect">
            <a:avLst/>
          </a:prstGeom>
        </p:spPr>
      </p:pic>
      <p:sp>
        <p:nvSpPr>
          <p:cNvPr id="6" name="title"/>
          <p:cNvSpPr/>
          <p:nvPr/>
        </p:nvSpPr>
        <p:spPr>
          <a:xfrm>
            <a:off x="2921000" y="3619500"/>
            <a:ext cx="10414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4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MeshAgent</a:t>
            </a:r>
            <a:endParaRPr lang="en-US" sz="4800" dirty="0"/>
          </a:p>
        </p:txBody>
      </p:sp>
      <p:sp>
        <p:nvSpPr>
          <p:cNvPr id="7" name="subtitle"/>
          <p:cNvSpPr/>
          <p:nvPr/>
        </p:nvSpPr>
        <p:spPr>
          <a:xfrm>
            <a:off x="3111500" y="4635500"/>
            <a:ext cx="1003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control plane for connected coding agents</a:t>
            </a:r>
            <a:endParaRPr lang="en-US" sz="2400" dirty="0"/>
          </a:p>
        </p:txBody>
      </p:sp>
      <p:sp>
        <p:nvSpPr>
          <p:cNvPr id="8" name="tag1"/>
          <p:cNvSpPr/>
          <p:nvPr/>
        </p:nvSpPr>
        <p:spPr>
          <a:xfrm>
            <a:off x="3810000" y="5816600"/>
            <a:ext cx="2413000" cy="5334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9" name="cover-text-8"/>
          <p:cNvSpPr/>
          <p:nvPr/>
        </p:nvSpPr>
        <p:spPr>
          <a:xfrm>
            <a:off x="3810000" y="5816600"/>
            <a:ext cx="241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evidence</a:t>
            </a:r>
            <a:endParaRPr lang="en-US" sz="1400" dirty="0"/>
          </a:p>
        </p:txBody>
      </p:sp>
      <p:sp>
        <p:nvSpPr>
          <p:cNvPr id="10" name="tag2"/>
          <p:cNvSpPr/>
          <p:nvPr/>
        </p:nvSpPr>
        <p:spPr>
          <a:xfrm>
            <a:off x="6921500" y="5816600"/>
            <a:ext cx="2413000" cy="5334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/>
        </p:spPr>
      </p:sp>
      <p:sp>
        <p:nvSpPr>
          <p:cNvPr id="11" name="cover-text-10"/>
          <p:cNvSpPr/>
          <p:nvPr/>
        </p:nvSpPr>
        <p:spPr>
          <a:xfrm>
            <a:off x="6921500" y="5816600"/>
            <a:ext cx="241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operations</a:t>
            </a:r>
            <a:endParaRPr lang="en-US" sz="1400" dirty="0"/>
          </a:p>
        </p:txBody>
      </p:sp>
      <p:sp>
        <p:nvSpPr>
          <p:cNvPr id="12" name="tag3"/>
          <p:cNvSpPr/>
          <p:nvPr/>
        </p:nvSpPr>
        <p:spPr>
          <a:xfrm>
            <a:off x="10033000" y="5816600"/>
            <a:ext cx="2413000" cy="53340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/>
        </p:spPr>
      </p:sp>
      <p:sp>
        <p:nvSpPr>
          <p:cNvPr id="13" name="cover-text-12"/>
          <p:cNvSpPr/>
          <p:nvPr/>
        </p:nvSpPr>
        <p:spPr>
          <a:xfrm>
            <a:off x="10033000" y="5816600"/>
            <a:ext cx="241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 decisions</a:t>
            </a:r>
            <a:endParaRPr lang="en-US" sz="1400" dirty="0"/>
          </a:p>
        </p:txBody>
      </p:sp>
      <p:sp>
        <p:nvSpPr>
          <p:cNvPr id="14" name="cover-text-13"/>
          <p:cNvSpPr/>
          <p:nvPr/>
        </p:nvSpPr>
        <p:spPr>
          <a:xfrm>
            <a:off x="3302000" y="6794500"/>
            <a:ext cx="965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client demonstration · Real Cursor and GitHub workflow</a:t>
            </a:r>
            <a:endParaRPr lang="en-US" sz="1400" dirty="0"/>
          </a:p>
        </p:txBody>
      </p:sp>
      <p:sp>
        <p:nvSpPr>
          <p:cNvPr id="15" name="cover-text-14"/>
          <p:cNvSpPr/>
          <p:nvPr/>
        </p:nvSpPr>
        <p:spPr>
          <a:xfrm>
            <a:off x="635000" y="85725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alan.morgan@transformativeaiholding.com</a:t>
            </a:r>
            <a:endParaRPr lang="en-US" sz="1200" dirty="0"/>
          </a:p>
        </p:txBody>
      </p:sp>
      <p:sp>
        <p:nvSpPr>
          <p:cNvPr id="16" name="cover-text-15"/>
          <p:cNvSpPr/>
          <p:nvPr/>
        </p:nvSpPr>
        <p:spPr>
          <a:xfrm>
            <a:off x="13335000" y="85725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demo · 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rol_gap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control_gap-text-2"/>
          <p:cNvSpPr/>
          <p:nvPr/>
        </p:nvSpPr>
        <p:spPr>
          <a:xfrm>
            <a:off x="635000" y="431800"/>
            <a:ext cx="149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control gap appears between the coding agent and the security decision</a:t>
            </a:r>
            <a:endParaRPr lang="en-US" sz="3200" dirty="0"/>
          </a:p>
        </p:txBody>
      </p:sp>
      <p:sp>
        <p:nvSpPr>
          <p:cNvPr id="4" name="control_gap-text-3"/>
          <p:cNvSpPr/>
          <p:nvPr/>
        </p:nvSpPr>
        <p:spPr>
          <a:xfrm>
            <a:off x="635000" y="11176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agent work is not the problem. Missing ownership, evidence, and decision continuity is.</a:t>
            </a:r>
            <a:endParaRPr lang="en-US" sz="1800" dirty="0"/>
          </a:p>
        </p:txBody>
      </p:sp>
      <p:sp>
        <p:nvSpPr>
          <p:cNvPr id="5" name="control_gap-shape-4"/>
          <p:cNvSpPr/>
          <p:nvPr/>
        </p:nvSpPr>
        <p:spPr>
          <a:xfrm>
            <a:off x="635000" y="1841500"/>
            <a:ext cx="6921500" cy="59690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control_gap-shape-5"/>
          <p:cNvSpPr/>
          <p:nvPr/>
        </p:nvSpPr>
        <p:spPr>
          <a:xfrm>
            <a:off x="635000" y="1841500"/>
            <a:ext cx="6921500" cy="63500"/>
          </a:xfrm>
          <a:prstGeom prst="roundRect">
            <a:avLst>
              <a:gd name="adj" fmla="val 40000"/>
            </a:avLst>
          </a:prstGeom>
          <a:solidFill>
            <a:srgbClr val="FDE68A"/>
          </a:solidFill>
          <a:ln/>
        </p:spPr>
      </p:sp>
      <p:sp>
        <p:nvSpPr>
          <p:cNvPr id="7" name="control_gap-text-6"/>
          <p:cNvSpPr/>
          <p:nvPr/>
        </p:nvSpPr>
        <p:spPr>
          <a:xfrm>
            <a:off x="1016000" y="22606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control plane</a:t>
            </a:r>
            <a:endParaRPr lang="en-US" sz="2200" dirty="0"/>
          </a:p>
        </p:txBody>
      </p:sp>
      <p:pic>
        <p:nvPicPr>
          <p:cNvPr id="8" name="control_gap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3048000"/>
            <a:ext cx="431800" cy="431800"/>
          </a:xfrm>
          <a:prstGeom prst="rect">
            <a:avLst/>
          </a:prstGeom>
        </p:spPr>
      </p:pic>
      <p:sp>
        <p:nvSpPr>
          <p:cNvPr id="9" name="control_gap-text-8"/>
          <p:cNvSpPr/>
          <p:nvPr/>
        </p:nvSpPr>
        <p:spPr>
          <a:xfrm>
            <a:off x="1778000" y="2997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changes code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Prompts, tools, files, and package commands scatter across local history.</a:t>
            </a:r>
            <a:endParaRPr lang="en-US" sz="1800" dirty="0"/>
          </a:p>
        </p:txBody>
      </p:sp>
      <p:sp>
        <p:nvSpPr>
          <p:cNvPr id="10" name="control_gap-shape-9"/>
          <p:cNvSpPr/>
          <p:nvPr/>
        </p:nvSpPr>
        <p:spPr>
          <a:xfrm>
            <a:off x="1295400" y="3632200"/>
            <a:ext cx="9144" cy="5334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pic>
        <p:nvPicPr>
          <p:cNvPr id="11" name="control_gap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4254500"/>
            <a:ext cx="431800" cy="431800"/>
          </a:xfrm>
          <a:prstGeom prst="rect">
            <a:avLst/>
          </a:prstGeom>
        </p:spPr>
      </p:pic>
      <p:sp>
        <p:nvSpPr>
          <p:cNvPr id="12" name="control_gap-text-11"/>
          <p:cNvSpPr/>
          <p:nvPr/>
        </p:nvSpPr>
        <p:spPr>
          <a:xfrm>
            <a:off x="1778000" y="42037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risk appears late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dependency can reach review without a reliable pre-install decision trail.</a:t>
            </a:r>
            <a:endParaRPr lang="en-US" sz="1800" dirty="0"/>
          </a:p>
        </p:txBody>
      </p:sp>
      <p:sp>
        <p:nvSpPr>
          <p:cNvPr id="13" name="control_gap-shape-12"/>
          <p:cNvSpPr/>
          <p:nvPr/>
        </p:nvSpPr>
        <p:spPr>
          <a:xfrm>
            <a:off x="1295400" y="4838700"/>
            <a:ext cx="9144" cy="5334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pic>
        <p:nvPicPr>
          <p:cNvPr id="14" name="control_gap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5461000"/>
            <a:ext cx="431800" cy="431800"/>
          </a:xfrm>
          <a:prstGeom prst="rect">
            <a:avLst/>
          </a:prstGeom>
        </p:spPr>
      </p:pic>
      <p:sp>
        <p:nvSpPr>
          <p:cNvPr id="15" name="control_gap-text-14"/>
          <p:cNvSpPr/>
          <p:nvPr/>
        </p:nvSpPr>
        <p:spPr>
          <a:xfrm>
            <a:off x="1778000" y="54102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work fragments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Ownership, exceptions, remediation, and proof move into separate tools.</a:t>
            </a:r>
            <a:endParaRPr lang="en-US" sz="1800" dirty="0"/>
          </a:p>
        </p:txBody>
      </p:sp>
      <p:sp>
        <p:nvSpPr>
          <p:cNvPr id="16" name="control_gap-shape-15"/>
          <p:cNvSpPr/>
          <p:nvPr/>
        </p:nvSpPr>
        <p:spPr>
          <a:xfrm>
            <a:off x="8064500" y="1841500"/>
            <a:ext cx="7556500" cy="59690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control_gap-shape-16"/>
          <p:cNvSpPr/>
          <p:nvPr/>
        </p:nvSpPr>
        <p:spPr>
          <a:xfrm>
            <a:off x="8064500" y="1841500"/>
            <a:ext cx="7556500" cy="635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18" name="control_gap-text-17"/>
          <p:cNvSpPr/>
          <p:nvPr/>
        </p:nvSpPr>
        <p:spPr>
          <a:xfrm>
            <a:off x="8445500" y="2260600"/>
            <a:ext cx="673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MeshAgent</a:t>
            </a:r>
            <a:endParaRPr lang="en-US" sz="2200" dirty="0"/>
          </a:p>
        </p:txBody>
      </p:sp>
      <p:sp>
        <p:nvSpPr>
          <p:cNvPr id="19" name="control_gap-shape-18"/>
          <p:cNvSpPr/>
          <p:nvPr/>
        </p:nvSpPr>
        <p:spPr>
          <a:xfrm>
            <a:off x="8572500" y="3022600"/>
            <a:ext cx="6032500" cy="91440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/>
        </p:spPr>
      </p:sp>
      <p:pic>
        <p:nvPicPr>
          <p:cNvPr id="20" name="control_gap-icon-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0" y="3263900"/>
            <a:ext cx="431800" cy="431800"/>
          </a:xfrm>
          <a:prstGeom prst="rect">
            <a:avLst/>
          </a:prstGeom>
        </p:spPr>
      </p:pic>
      <p:sp>
        <p:nvSpPr>
          <p:cNvPr id="21" name="control_gap-text-20"/>
          <p:cNvSpPr/>
          <p:nvPr/>
        </p:nvSpPr>
        <p:spPr>
          <a:xfrm>
            <a:off x="9525000" y="31242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once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Opted-in event stream with replay-safe ordering</a:t>
            </a:r>
            <a:endParaRPr lang="en-US" sz="1800" dirty="0"/>
          </a:p>
        </p:txBody>
      </p:sp>
      <p:sp>
        <p:nvSpPr>
          <p:cNvPr id="22" name="control_gap-shape-21"/>
          <p:cNvSpPr/>
          <p:nvPr/>
        </p:nvSpPr>
        <p:spPr>
          <a:xfrm>
            <a:off x="8572500" y="4191000"/>
            <a:ext cx="6032500" cy="91440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/>
        </p:spPr>
      </p:sp>
      <p:pic>
        <p:nvPicPr>
          <p:cNvPr id="23" name="control_gap-icon-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500" y="4432300"/>
            <a:ext cx="431800" cy="431800"/>
          </a:xfrm>
          <a:prstGeom prst="rect">
            <a:avLst/>
          </a:prstGeom>
        </p:spPr>
      </p:pic>
      <p:sp>
        <p:nvSpPr>
          <p:cNvPr id="24" name="control_gap-text-23"/>
          <p:cNvSpPr/>
          <p:nvPr/>
        </p:nvSpPr>
        <p:spPr>
          <a:xfrm>
            <a:off x="9525000" y="42926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Decided with context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policy, advisory, code, owner, and expiry</a:t>
            </a:r>
            <a:endParaRPr lang="en-US" sz="1800" dirty="0"/>
          </a:p>
        </p:txBody>
      </p:sp>
      <p:sp>
        <p:nvSpPr>
          <p:cNvPr id="25" name="control_gap-shape-24"/>
          <p:cNvSpPr/>
          <p:nvPr/>
        </p:nvSpPr>
        <p:spPr>
          <a:xfrm>
            <a:off x="8572500" y="5359400"/>
            <a:ext cx="6032500" cy="914400"/>
          </a:xfrm>
          <a:prstGeom prst="roundRect">
            <a:avLst>
              <a:gd name="adj" fmla="val 16667"/>
            </a:avLst>
          </a:prstGeom>
          <a:solidFill>
            <a:srgbClr val="FDE68A"/>
          </a:solidFill>
          <a:ln/>
        </p:spPr>
      </p:sp>
      <p:pic>
        <p:nvPicPr>
          <p:cNvPr id="26" name="control_gap-icon-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6500" y="5600700"/>
            <a:ext cx="431800" cy="431800"/>
          </a:xfrm>
          <a:prstGeom prst="rect">
            <a:avLst/>
          </a:prstGeom>
        </p:spPr>
      </p:pic>
      <p:sp>
        <p:nvSpPr>
          <p:cNvPr id="27" name="control_gap-text-26"/>
          <p:cNvSpPr/>
          <p:nvPr/>
        </p:nvSpPr>
        <p:spPr>
          <a:xfrm>
            <a:off x="9525000" y="54610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end to end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evidence and immutable lifecycle history</a:t>
            </a:r>
            <a:endParaRPr lang="en-US" sz="1800" dirty="0"/>
          </a:p>
        </p:txBody>
      </p:sp>
      <p:sp>
        <p:nvSpPr>
          <p:cNvPr id="28" name="control_gap-text-27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MeshAgent governs the handoffs; it does not replace the developer's editor.</a:t>
            </a:r>
            <a:endParaRPr lang="en-US" sz="1200" dirty="0"/>
          </a:p>
        </p:txBody>
      </p:sp>
      <p:sp>
        <p:nvSpPr>
          <p:cNvPr id="29" name="control_gap-text-28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ourney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journey-text-2"/>
          <p:cNvSpPr/>
          <p:nvPr/>
        </p:nvSpPr>
        <p:spPr>
          <a:xfrm>
            <a:off x="635000" y="431800"/>
            <a:ext cx="149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governed journey across Developer, Analyst, and CISO</a:t>
            </a:r>
            <a:endParaRPr lang="en-US" sz="3200" dirty="0"/>
          </a:p>
        </p:txBody>
      </p:sp>
      <p:sp>
        <p:nvSpPr>
          <p:cNvPr id="4" name="journey-text-3"/>
          <p:cNvSpPr/>
          <p:nvPr/>
        </p:nvSpPr>
        <p:spPr>
          <a:xfrm>
            <a:off x="635000" y="11176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role sees the same underlying evidence at the level required for its decision.</a:t>
            </a:r>
            <a:endParaRPr lang="en-US" sz="1800" dirty="0"/>
          </a:p>
        </p:txBody>
      </p:sp>
      <p:sp>
        <p:nvSpPr>
          <p:cNvPr id="5" name="journey-shape-4"/>
          <p:cNvSpPr/>
          <p:nvPr/>
        </p:nvSpPr>
        <p:spPr>
          <a:xfrm>
            <a:off x="698500" y="2095500"/>
            <a:ext cx="4445000" cy="4572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journey-shape-5"/>
          <p:cNvSpPr/>
          <p:nvPr/>
        </p:nvSpPr>
        <p:spPr>
          <a:xfrm>
            <a:off x="698500" y="2095500"/>
            <a:ext cx="4445000" cy="76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7" name="journey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2603500"/>
            <a:ext cx="609600" cy="609600"/>
          </a:xfrm>
          <a:prstGeom prst="rect">
            <a:avLst/>
          </a:prstGeom>
        </p:spPr>
      </p:pic>
      <p:sp>
        <p:nvSpPr>
          <p:cNvPr id="8" name="journey-text-7"/>
          <p:cNvSpPr/>
          <p:nvPr/>
        </p:nvSpPr>
        <p:spPr>
          <a:xfrm>
            <a:off x="1079500" y="3492500"/>
            <a:ext cx="355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2400" dirty="0"/>
          </a:p>
        </p:txBody>
      </p:sp>
      <p:sp>
        <p:nvSpPr>
          <p:cNvPr id="9" name="journey-text-8"/>
          <p:cNvSpPr/>
          <p:nvPr/>
        </p:nvSpPr>
        <p:spPr>
          <a:xfrm>
            <a:off x="1079500" y="4127500"/>
            <a:ext cx="355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Works in Cursor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Receives package decision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Requests Security review</a:t>
            </a:r>
            <a:endParaRPr lang="en-US" sz="1800" dirty="0"/>
          </a:p>
        </p:txBody>
      </p:sp>
      <p:sp>
        <p:nvSpPr>
          <p:cNvPr id="10" name="journey-shape-9"/>
          <p:cNvSpPr/>
          <p:nvPr/>
        </p:nvSpPr>
        <p:spPr>
          <a:xfrm>
            <a:off x="5334000" y="3937000"/>
            <a:ext cx="952500" cy="685800"/>
          </a:xfrm>
          <a:prstGeom prst="rightArrow">
            <a:avLst/>
          </a:prstGeom>
          <a:solidFill>
            <a:srgbClr val="E8EEF7"/>
          </a:solidFill>
          <a:ln/>
        </p:spPr>
      </p:sp>
      <p:sp>
        <p:nvSpPr>
          <p:cNvPr id="11" name="journey-shape-10"/>
          <p:cNvSpPr/>
          <p:nvPr/>
        </p:nvSpPr>
        <p:spPr>
          <a:xfrm>
            <a:off x="5905500" y="2095500"/>
            <a:ext cx="4445000" cy="4572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journey-shape-11"/>
          <p:cNvSpPr/>
          <p:nvPr/>
        </p:nvSpPr>
        <p:spPr>
          <a:xfrm>
            <a:off x="5905500" y="2095500"/>
            <a:ext cx="4445000" cy="76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pic>
        <p:nvPicPr>
          <p:cNvPr id="13" name="journey-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603500"/>
            <a:ext cx="609600" cy="609600"/>
          </a:xfrm>
          <a:prstGeom prst="rect">
            <a:avLst/>
          </a:prstGeom>
        </p:spPr>
      </p:pic>
      <p:sp>
        <p:nvSpPr>
          <p:cNvPr id="14" name="journey-text-13"/>
          <p:cNvSpPr/>
          <p:nvPr/>
        </p:nvSpPr>
        <p:spPr>
          <a:xfrm>
            <a:off x="6286500" y="3492500"/>
            <a:ext cx="355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</a:t>
            </a:r>
            <a:endParaRPr lang="en-US" sz="2400" dirty="0"/>
          </a:p>
        </p:txBody>
      </p:sp>
      <p:sp>
        <p:nvSpPr>
          <p:cNvPr id="15" name="journey-text-14"/>
          <p:cNvSpPr/>
          <p:nvPr/>
        </p:nvSpPr>
        <p:spPr>
          <a:xfrm>
            <a:off x="6286500" y="4127500"/>
            <a:ext cx="355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Triages one queue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Assigns and collaborates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Escalates case or exception</a:t>
            </a:r>
            <a:endParaRPr lang="en-US" sz="1800" dirty="0"/>
          </a:p>
        </p:txBody>
      </p:sp>
      <p:sp>
        <p:nvSpPr>
          <p:cNvPr id="16" name="journey-shape-15"/>
          <p:cNvSpPr/>
          <p:nvPr/>
        </p:nvSpPr>
        <p:spPr>
          <a:xfrm>
            <a:off x="10541000" y="3937000"/>
            <a:ext cx="952500" cy="685800"/>
          </a:xfrm>
          <a:prstGeom prst="rightArrow">
            <a:avLst/>
          </a:prstGeom>
          <a:solidFill>
            <a:srgbClr val="FDE68A"/>
          </a:solidFill>
          <a:ln/>
        </p:spPr>
      </p:sp>
      <p:sp>
        <p:nvSpPr>
          <p:cNvPr id="17" name="journey-shape-16"/>
          <p:cNvSpPr/>
          <p:nvPr/>
        </p:nvSpPr>
        <p:spPr>
          <a:xfrm>
            <a:off x="11112500" y="2095500"/>
            <a:ext cx="4445000" cy="4572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journey-shape-17"/>
          <p:cNvSpPr/>
          <p:nvPr/>
        </p:nvSpPr>
        <p:spPr>
          <a:xfrm>
            <a:off x="11112500" y="2095500"/>
            <a:ext cx="44450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9" name="journey-icon-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0" y="2603500"/>
            <a:ext cx="609600" cy="609600"/>
          </a:xfrm>
          <a:prstGeom prst="rect">
            <a:avLst/>
          </a:prstGeom>
        </p:spPr>
      </p:pic>
      <p:sp>
        <p:nvSpPr>
          <p:cNvPr id="20" name="journey-text-19"/>
          <p:cNvSpPr/>
          <p:nvPr/>
        </p:nvSpPr>
        <p:spPr>
          <a:xfrm>
            <a:off x="11493500" y="3492500"/>
            <a:ext cx="355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</a:t>
            </a:r>
            <a:endParaRPr lang="en-US" sz="2400" dirty="0"/>
          </a:p>
        </p:txBody>
      </p:sp>
      <p:sp>
        <p:nvSpPr>
          <p:cNvPr id="21" name="journey-text-20"/>
          <p:cNvSpPr/>
          <p:nvPr/>
        </p:nvSpPr>
        <p:spPr>
          <a:xfrm>
            <a:off x="11493500" y="4127500"/>
            <a:ext cx="355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Reviews exact policy record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Decides independently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</a:t>
            </a: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Verifies remediation proof</a:t>
            </a:r>
            <a:endParaRPr lang="en-US" sz="1800" dirty="0"/>
          </a:p>
        </p:txBody>
      </p:sp>
      <p:sp>
        <p:nvSpPr>
          <p:cNvPr id="22" name="journey-shape-21"/>
          <p:cNvSpPr/>
          <p:nvPr/>
        </p:nvSpPr>
        <p:spPr>
          <a:xfrm>
            <a:off x="2222500" y="7175500"/>
            <a:ext cx="11811000" cy="7620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/>
        </p:spPr>
      </p:sp>
      <p:sp>
        <p:nvSpPr>
          <p:cNvPr id="23" name="journey-text-22"/>
          <p:cNvSpPr/>
          <p:nvPr/>
        </p:nvSpPr>
        <p:spPr>
          <a:xfrm>
            <a:off x="2476500" y="7175500"/>
            <a:ext cx="1130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traceable chain from agent action to resolved control decision</a:t>
            </a:r>
            <a:endParaRPr lang="en-US" sz="1800" dirty="0"/>
          </a:p>
        </p:txBody>
      </p:sp>
      <p:sp>
        <p:nvSpPr>
          <p:cNvPr id="24" name="journey-text-23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Server-enforced role, owner, version, and separation-of-duties checks remain authoritative.</a:t>
            </a:r>
            <a:endParaRPr lang="en-US" sz="1200" dirty="0"/>
          </a:p>
        </p:txBody>
      </p:sp>
      <p:sp>
        <p:nvSpPr>
          <p:cNvPr id="25" name="journey-text-24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architecture-text-2"/>
          <p:cNvSpPr/>
          <p:nvPr/>
        </p:nvSpPr>
        <p:spPr>
          <a:xfrm>
            <a:off x="635000" y="381000"/>
            <a:ext cx="1498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Customer-operated architecture with HyperMesh as evidence authority</a:t>
            </a:r>
            <a:endParaRPr lang="en-US" sz="3200" dirty="0"/>
          </a:p>
        </p:txBody>
      </p:sp>
      <p:sp>
        <p:nvSpPr>
          <p:cNvPr id="4" name="architecture-text-3"/>
          <p:cNvSpPr/>
          <p:nvPr/>
        </p:nvSpPr>
        <p:spPr>
          <a:xfrm>
            <a:off x="635000" y="1016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ledgers preserve workflow order; transactional outboxes project verified relationships into native HyperMesh stores.</a:t>
            </a:r>
            <a:endParaRPr lang="en-US" sz="1800" dirty="0"/>
          </a:p>
        </p:txBody>
      </p:sp>
      <p:sp>
        <p:nvSpPr>
          <p:cNvPr id="5" name="architecture-shape-4"/>
          <p:cNvSpPr/>
          <p:nvPr/>
        </p:nvSpPr>
        <p:spPr>
          <a:xfrm>
            <a:off x="571500" y="1714500"/>
            <a:ext cx="27940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architecture-text-5"/>
          <p:cNvSpPr/>
          <p:nvPr/>
        </p:nvSpPr>
        <p:spPr>
          <a:xfrm>
            <a:off x="825500" y="19685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ENVIRONMENT</a:t>
            </a:r>
            <a:endParaRPr lang="en-US" sz="1400" dirty="0"/>
          </a:p>
        </p:txBody>
      </p:sp>
      <p:pic>
        <p:nvPicPr>
          <p:cNvPr id="7" name="architecture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603500"/>
            <a:ext cx="431800" cy="431800"/>
          </a:xfrm>
          <a:prstGeom prst="rect">
            <a:avLst/>
          </a:prstGeom>
        </p:spPr>
      </p:pic>
      <p:sp>
        <p:nvSpPr>
          <p:cNvPr id="8" name="architecture-text-7"/>
          <p:cNvSpPr/>
          <p:nvPr/>
        </p:nvSpPr>
        <p:spPr>
          <a:xfrm>
            <a:off x="1587500" y="2590800"/>
            <a:ext cx="146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clone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· branch · commit</a:t>
            </a:r>
            <a:endParaRPr lang="en-US" sz="1400" dirty="0"/>
          </a:p>
        </p:txBody>
      </p:sp>
      <p:pic>
        <p:nvPicPr>
          <p:cNvPr id="9" name="architecture-icon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365500"/>
            <a:ext cx="431800" cy="431800"/>
          </a:xfrm>
          <a:prstGeom prst="rect">
            <a:avLst/>
          </a:prstGeom>
        </p:spPr>
      </p:pic>
      <p:sp>
        <p:nvSpPr>
          <p:cNvPr id="10" name="architecture-text-9"/>
          <p:cNvSpPr/>
          <p:nvPr/>
        </p:nvSpPr>
        <p:spPr>
          <a:xfrm>
            <a:off x="1587500" y="3352800"/>
            <a:ext cx="146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/ Claude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· files · tools</a:t>
            </a:r>
            <a:endParaRPr lang="en-US" sz="1400" dirty="0"/>
          </a:p>
        </p:txBody>
      </p:sp>
      <p:sp>
        <p:nvSpPr>
          <p:cNvPr id="11" name="architecture-shape-10"/>
          <p:cNvSpPr/>
          <p:nvPr/>
        </p:nvSpPr>
        <p:spPr>
          <a:xfrm>
            <a:off x="3492500" y="2730500"/>
            <a:ext cx="1016000" cy="508000"/>
          </a:xfrm>
          <a:prstGeom prst="rightArrow">
            <a:avLst/>
          </a:prstGeom>
          <a:solidFill>
            <a:srgbClr val="CCFBF1"/>
          </a:solidFill>
          <a:ln/>
        </p:spPr>
      </p:sp>
      <p:sp>
        <p:nvSpPr>
          <p:cNvPr id="12" name="architecture-shape-11"/>
          <p:cNvSpPr/>
          <p:nvPr/>
        </p:nvSpPr>
        <p:spPr>
          <a:xfrm>
            <a:off x="4445000" y="2032000"/>
            <a:ext cx="24130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pic>
        <p:nvPicPr>
          <p:cNvPr id="13" name="architecture-icon-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2286000"/>
            <a:ext cx="508000" cy="508000"/>
          </a:xfrm>
          <a:prstGeom prst="rect">
            <a:avLst/>
          </a:prstGeom>
        </p:spPr>
      </p:pic>
      <p:sp>
        <p:nvSpPr>
          <p:cNvPr id="14" name="architecture-text-13"/>
          <p:cNvSpPr/>
          <p:nvPr/>
        </p:nvSpPr>
        <p:spPr>
          <a:xfrm>
            <a:off x="4699000" y="29210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Recorder + gate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 replay · package decision</a:t>
            </a:r>
            <a:endParaRPr lang="en-US" sz="1400" dirty="0"/>
          </a:p>
        </p:txBody>
      </p:sp>
      <p:sp>
        <p:nvSpPr>
          <p:cNvPr id="15" name="architecture-shape-14"/>
          <p:cNvSpPr/>
          <p:nvPr/>
        </p:nvSpPr>
        <p:spPr>
          <a:xfrm>
            <a:off x="6985000" y="2730500"/>
            <a:ext cx="1016000" cy="508000"/>
          </a:xfrm>
          <a:prstGeom prst="rightArrow">
            <a:avLst/>
          </a:prstGeom>
          <a:solidFill>
            <a:srgbClr val="E8EEF7"/>
          </a:solidFill>
          <a:ln/>
        </p:spPr>
      </p:sp>
      <p:sp>
        <p:nvSpPr>
          <p:cNvPr id="16" name="architecture-shape-15"/>
          <p:cNvSpPr/>
          <p:nvPr/>
        </p:nvSpPr>
        <p:spPr>
          <a:xfrm>
            <a:off x="7937500" y="1651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7" name="architecture-icon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1930400"/>
            <a:ext cx="609600" cy="609600"/>
          </a:xfrm>
          <a:prstGeom prst="rect">
            <a:avLst/>
          </a:prstGeom>
        </p:spPr>
      </p:pic>
      <p:sp>
        <p:nvSpPr>
          <p:cNvPr id="18" name="architecture-text-17"/>
          <p:cNvSpPr/>
          <p:nvPr/>
        </p:nvSpPr>
        <p:spPr>
          <a:xfrm>
            <a:off x="8255000" y="27051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control plane</a:t>
            </a:r>
            <a:endParaRPr lang="en-US" sz="2000" dirty="0"/>
          </a:p>
        </p:txBody>
      </p:sp>
      <p:sp>
        <p:nvSpPr>
          <p:cNvPr id="19" name="architecture-text-18"/>
          <p:cNvSpPr/>
          <p:nvPr/>
        </p:nvSpPr>
        <p:spPr>
          <a:xfrm>
            <a:off x="8382000" y="3276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· capabilities · workflow · reconciliation</a:t>
            </a:r>
            <a:endParaRPr lang="en-US" sz="1400" dirty="0"/>
          </a:p>
        </p:txBody>
      </p:sp>
      <p:sp>
        <p:nvSpPr>
          <p:cNvPr id="20" name="architecture-shape-19"/>
          <p:cNvSpPr/>
          <p:nvPr/>
        </p:nvSpPr>
        <p:spPr>
          <a:xfrm>
            <a:off x="11493500" y="2730500"/>
            <a:ext cx="1016000" cy="508000"/>
          </a:xfrm>
          <a:prstGeom prst="rightArrow">
            <a:avLst/>
          </a:prstGeom>
          <a:solidFill>
            <a:srgbClr val="E8EEF7"/>
          </a:solidFill>
          <a:ln/>
        </p:spPr>
      </p:sp>
      <p:sp>
        <p:nvSpPr>
          <p:cNvPr id="21" name="architecture-shape-20"/>
          <p:cNvSpPr/>
          <p:nvPr/>
        </p:nvSpPr>
        <p:spPr>
          <a:xfrm>
            <a:off x="12446000" y="1714500"/>
            <a:ext cx="31750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architecture-text-21"/>
          <p:cNvSpPr/>
          <p:nvPr/>
        </p:nvSpPr>
        <p:spPr>
          <a:xfrm>
            <a:off x="12700000" y="19685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WORKSPACES</a:t>
            </a:r>
            <a:endParaRPr lang="en-US" sz="1400" dirty="0"/>
          </a:p>
        </p:txBody>
      </p:sp>
      <p:sp>
        <p:nvSpPr>
          <p:cNvPr id="23" name="architecture-text-22"/>
          <p:cNvSpPr/>
          <p:nvPr/>
        </p:nvSpPr>
        <p:spPr>
          <a:xfrm>
            <a:off x="12954000" y="2603500"/>
            <a:ext cx="2159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sessions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operations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 governance</a:t>
            </a:r>
            <a:endParaRPr lang="en-US" sz="1800" dirty="0"/>
          </a:p>
        </p:txBody>
      </p:sp>
      <p:sp>
        <p:nvSpPr>
          <p:cNvPr id="24" name="architecture-shape-23"/>
          <p:cNvSpPr/>
          <p:nvPr/>
        </p:nvSpPr>
        <p:spPr>
          <a:xfrm>
            <a:off x="9652000" y="4318000"/>
            <a:ext cx="9144" cy="698500"/>
          </a:xfrm>
          <a:prstGeom prst="line">
            <a:avLst/>
          </a:prstGeom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5" name="architecture-shape-24"/>
          <p:cNvSpPr/>
          <p:nvPr/>
        </p:nvSpPr>
        <p:spPr>
          <a:xfrm>
            <a:off x="4445000" y="5270500"/>
            <a:ext cx="4889500" cy="19685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architecture-icon-2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0" y="5689600"/>
            <a:ext cx="508000" cy="508000"/>
          </a:xfrm>
          <a:prstGeom prst="rect">
            <a:avLst/>
          </a:prstGeom>
        </p:spPr>
      </p:pic>
      <p:sp>
        <p:nvSpPr>
          <p:cNvPr id="27" name="architecture-text-26"/>
          <p:cNvSpPr/>
          <p:nvPr/>
        </p:nvSpPr>
        <p:spPr>
          <a:xfrm>
            <a:off x="5588000" y="55626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relational ledgers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· cases · policy versions · approvals · remediation events</a:t>
            </a:r>
            <a:endParaRPr lang="en-US" sz="1800" dirty="0"/>
          </a:p>
        </p:txBody>
      </p:sp>
      <p:sp>
        <p:nvSpPr>
          <p:cNvPr id="28" name="architecture-shape-27"/>
          <p:cNvSpPr/>
          <p:nvPr/>
        </p:nvSpPr>
        <p:spPr>
          <a:xfrm>
            <a:off x="5588000" y="6604000"/>
            <a:ext cx="2667000" cy="4064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/>
        </p:spPr>
      </p:sp>
      <p:sp>
        <p:nvSpPr>
          <p:cNvPr id="29" name="architecture-text-28"/>
          <p:cNvSpPr/>
          <p:nvPr/>
        </p:nvSpPr>
        <p:spPr>
          <a:xfrm>
            <a:off x="5588000" y="6604000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outboxes</a:t>
            </a:r>
            <a:endParaRPr lang="en-US" sz="1400" dirty="0"/>
          </a:p>
        </p:txBody>
      </p:sp>
      <p:sp>
        <p:nvSpPr>
          <p:cNvPr id="30" name="architecture-shape-29"/>
          <p:cNvSpPr/>
          <p:nvPr/>
        </p:nvSpPr>
        <p:spPr>
          <a:xfrm>
            <a:off x="9525000" y="5905500"/>
            <a:ext cx="1016000" cy="584200"/>
          </a:xfrm>
          <a:prstGeom prst="rightArrow">
            <a:avLst/>
          </a:prstGeom>
          <a:solidFill>
            <a:srgbClr val="CCFBF1"/>
          </a:solidFill>
          <a:ln/>
        </p:spPr>
      </p:sp>
      <p:sp>
        <p:nvSpPr>
          <p:cNvPr id="31" name="architecture-shape-30"/>
          <p:cNvSpPr/>
          <p:nvPr/>
        </p:nvSpPr>
        <p:spPr>
          <a:xfrm>
            <a:off x="10477500" y="5016500"/>
            <a:ext cx="5143500" cy="247650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2" name="architecture-icon-3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0" y="5461000"/>
            <a:ext cx="609600" cy="609600"/>
          </a:xfrm>
          <a:prstGeom prst="rect">
            <a:avLst/>
          </a:prstGeom>
        </p:spPr>
      </p:pic>
      <p:sp>
        <p:nvSpPr>
          <p:cNvPr id="33" name="architecture-text-32"/>
          <p:cNvSpPr/>
          <p:nvPr/>
        </p:nvSpPr>
        <p:spPr>
          <a:xfrm>
            <a:off x="11811000" y="5397500"/>
            <a:ext cx="330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HyperMesh evidence</a:t>
            </a:r>
            <a:endParaRPr lang="en-US" sz="2200" dirty="0"/>
          </a:p>
        </p:txBody>
      </p:sp>
      <p:sp>
        <p:nvSpPr>
          <p:cNvPr id="34" name="architecture-text-33"/>
          <p:cNvSpPr/>
          <p:nvPr/>
        </p:nvSpPr>
        <p:spPr>
          <a:xfrm>
            <a:off x="10858500" y="6223000"/>
            <a:ext cx="425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· packages · advisories · review episodes · policy versions · exception decisions · verification</a:t>
            </a:r>
            <a:endParaRPr lang="en-US" sz="1400" dirty="0"/>
          </a:p>
        </p:txBody>
      </p:sp>
      <p:sp>
        <p:nvSpPr>
          <p:cNvPr id="35" name="architecture-text-34"/>
          <p:cNvSpPr/>
          <p:nvPr/>
        </p:nvSpPr>
        <p:spPr>
          <a:xfrm>
            <a:off x="635000" y="8102600"/>
            <a:ext cx="138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Boundary:</a:t>
            </a: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single-tenant v1 · customer network · durable state · one writer per state directory</a:t>
            </a:r>
            <a:endParaRPr lang="en-US" sz="1400" dirty="0"/>
          </a:p>
        </p:txBody>
      </p:sp>
      <p:sp>
        <p:nvSpPr>
          <p:cNvPr id="36" name="architecture-text-35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veloper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developer-text-2"/>
          <p:cNvSpPr/>
          <p:nvPr/>
        </p:nvSpPr>
        <p:spPr>
          <a:xfrm>
            <a:off x="635000" y="406400"/>
            <a:ext cx="149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stays in Cursor; MeshAgent provides attention and proof</a:t>
            </a:r>
            <a:endParaRPr lang="en-US" sz="3200" dirty="0"/>
          </a:p>
        </p:txBody>
      </p:sp>
      <p:sp>
        <p:nvSpPr>
          <p:cNvPr id="4" name="developer-text-3"/>
          <p:cNvSpPr/>
          <p:nvPr/>
        </p:nvSpPr>
        <p:spPr>
          <a:xfrm>
            <a:off x="635000" y="10668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is intentionally visual and non-IDE: sessions, security attention, and connection health.</a:t>
            </a:r>
            <a:endParaRPr lang="en-US" sz="1800" dirty="0"/>
          </a:p>
        </p:txBody>
      </p:sp>
      <p:sp>
        <p:nvSpPr>
          <p:cNvPr id="5" name="developer-shape-4"/>
          <p:cNvSpPr/>
          <p:nvPr/>
        </p:nvSpPr>
        <p:spPr>
          <a:xfrm>
            <a:off x="571500" y="1714500"/>
            <a:ext cx="9652000" cy="641350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developer-shape-5"/>
          <p:cNvSpPr/>
          <p:nvPr/>
        </p:nvSpPr>
        <p:spPr>
          <a:xfrm>
            <a:off x="571500" y="1714500"/>
            <a:ext cx="9652000" cy="635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/>
        </p:spPr>
      </p:sp>
      <p:pic>
        <p:nvPicPr>
          <p:cNvPr id="7" name="developer-image-6" descr="preencoded.png">    </p:cNvPr>
          <p:cNvPicPr>
            <a:picLocks noChangeAspect="1"/>
          </p:cNvPicPr>
          <p:nvPr/>
        </p:nvPicPr>
        <p:blipFill>
          <a:blip r:embed="rId1"/>
          <a:srcRect l="-17137" r="-17137" t="0" b="0"/>
          <a:stretch/>
        </p:blipFill>
        <p:spPr>
          <a:xfrm>
            <a:off x="787400" y="1968500"/>
            <a:ext cx="9220200" cy="5905500"/>
          </a:xfrm>
          <a:prstGeom prst="roundRect">
            <a:avLst>
              <a:gd name="adj" fmla="val 1720"/>
            </a:avLst>
          </a:prstGeom>
        </p:spPr>
      </p:pic>
      <p:sp>
        <p:nvSpPr>
          <p:cNvPr id="8" name="developer-shape-7"/>
          <p:cNvSpPr/>
          <p:nvPr/>
        </p:nvSpPr>
        <p:spPr>
          <a:xfrm>
            <a:off x="10668000" y="1714500"/>
            <a:ext cx="4953000" cy="6413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developer-text-8"/>
          <p:cNvSpPr/>
          <p:nvPr/>
        </p:nvSpPr>
        <p:spPr>
          <a:xfrm>
            <a:off x="11049000" y="2095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developer gets</a:t>
            </a:r>
            <a:endParaRPr lang="en-US" sz="2200" dirty="0"/>
          </a:p>
        </p:txBody>
      </p:sp>
      <p:pic>
        <p:nvPicPr>
          <p:cNvPr id="10" name="developer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857500"/>
            <a:ext cx="431800" cy="431800"/>
          </a:xfrm>
          <a:prstGeom prst="rect">
            <a:avLst/>
          </a:prstGeom>
        </p:spPr>
      </p:pic>
      <p:sp>
        <p:nvSpPr>
          <p:cNvPr id="11" name="developer-text-10"/>
          <p:cNvSpPr/>
          <p:nvPr/>
        </p:nvSpPr>
        <p:spPr>
          <a:xfrm>
            <a:off x="11747500" y="2768600"/>
            <a:ext cx="336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repository context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remote, branch, commit, editor, and session</a:t>
            </a:r>
            <a:endParaRPr lang="en-US" sz="1800" dirty="0"/>
          </a:p>
        </p:txBody>
      </p:sp>
      <p:pic>
        <p:nvPicPr>
          <p:cNvPr id="12" name="developer-icon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3873500"/>
            <a:ext cx="431800" cy="431800"/>
          </a:xfrm>
          <a:prstGeom prst="rect">
            <a:avLst/>
          </a:prstGeom>
        </p:spPr>
      </p:pic>
      <p:sp>
        <p:nvSpPr>
          <p:cNvPr id="13" name="developer-text-12"/>
          <p:cNvSpPr/>
          <p:nvPr/>
        </p:nvSpPr>
        <p:spPr>
          <a:xfrm>
            <a:off x="11747500" y="3784600"/>
            <a:ext cx="3365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security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package, advisory, released fix, and linked code</a:t>
            </a:r>
            <a:endParaRPr lang="en-US" sz="1800" dirty="0"/>
          </a:p>
        </p:txBody>
      </p:sp>
      <p:pic>
        <p:nvPicPr>
          <p:cNvPr id="14" name="developer-icon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5016500"/>
            <a:ext cx="431800" cy="431800"/>
          </a:xfrm>
          <a:prstGeom prst="rect">
            <a:avLst/>
          </a:prstGeom>
        </p:spPr>
      </p:pic>
      <p:sp>
        <p:nvSpPr>
          <p:cNvPr id="15" name="developer-text-14"/>
          <p:cNvSpPr/>
          <p:nvPr/>
        </p:nvSpPr>
        <p:spPr>
          <a:xfrm>
            <a:off x="11747500" y="4927600"/>
            <a:ext cx="3365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review request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freezes before Security receives it</a:t>
            </a:r>
            <a:endParaRPr lang="en-US" sz="1800" dirty="0"/>
          </a:p>
        </p:txBody>
      </p:sp>
      <p:pic>
        <p:nvPicPr>
          <p:cNvPr id="16" name="developer-icon-1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6159500"/>
            <a:ext cx="431800" cy="431800"/>
          </a:xfrm>
          <a:prstGeom prst="rect">
            <a:avLst/>
          </a:prstGeom>
        </p:spPr>
      </p:pic>
      <p:sp>
        <p:nvSpPr>
          <p:cNvPr id="17" name="developer-text-16"/>
          <p:cNvSpPr/>
          <p:nvPr/>
        </p:nvSpPr>
        <p:spPr>
          <a:xfrm>
            <a:off x="11747500" y="6070600"/>
            <a:ext cx="33655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verification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later clean package check can verify requested change</a:t>
            </a:r>
            <a:endParaRPr lang="en-US" sz="1800" dirty="0"/>
          </a:p>
        </p:txBody>
      </p:sp>
      <p:sp>
        <p:nvSpPr>
          <p:cNvPr id="18" name="developer-shape-17"/>
          <p:cNvSpPr/>
          <p:nvPr/>
        </p:nvSpPr>
        <p:spPr>
          <a:xfrm>
            <a:off x="10985500" y="7302500"/>
            <a:ext cx="4191000" cy="533400"/>
          </a:xfrm>
          <a:prstGeom prst="roundRect">
            <a:avLst>
              <a:gd name="adj" fmla="val 23810"/>
            </a:avLst>
          </a:prstGeom>
          <a:solidFill>
            <a:srgbClr val="CCFBF1"/>
          </a:solidFill>
          <a:ln/>
        </p:spPr>
      </p:sp>
      <p:sp>
        <p:nvSpPr>
          <p:cNvPr id="19" name="developer-text-18"/>
          <p:cNvSpPr/>
          <p:nvPr/>
        </p:nvSpPr>
        <p:spPr>
          <a:xfrm>
            <a:off x="10985500" y="730250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remains the coding environment</a:t>
            </a:r>
            <a:endParaRPr lang="en-US" sz="1400" dirty="0"/>
          </a:p>
        </p:txBody>
      </p:sp>
      <p:sp>
        <p:nvSpPr>
          <p:cNvPr id="20" name="developer-text-19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production UI · live EngineGateway state · local demo identity visibly labelled</a:t>
            </a:r>
            <a:endParaRPr lang="en-US" sz="1200" dirty="0"/>
          </a:p>
        </p:txBody>
      </p:sp>
      <p:sp>
        <p:nvSpPr>
          <p:cNvPr id="21" name="developer-text-20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alyst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analyst-text-2"/>
          <p:cNvSpPr/>
          <p:nvPr/>
        </p:nvSpPr>
        <p:spPr>
          <a:xfrm>
            <a:off x="635000" y="406400"/>
            <a:ext cx="149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receives one queue with evidence and accountable work</a:t>
            </a:r>
            <a:endParaRPr lang="en-US" sz="3200" dirty="0"/>
          </a:p>
        </p:txBody>
      </p:sp>
      <p:sp>
        <p:nvSpPr>
          <p:cNvPr id="4" name="analyst-text-3"/>
          <p:cNvSpPr/>
          <p:nvPr/>
        </p:nvSpPr>
        <p:spPr>
          <a:xfrm>
            <a:off x="635000" y="10668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reviews and security cases are ranked together by impact, age, owner, and due time.</a:t>
            </a:r>
            <a:endParaRPr lang="en-US" sz="1800" dirty="0"/>
          </a:p>
        </p:txBody>
      </p:sp>
      <p:sp>
        <p:nvSpPr>
          <p:cNvPr id="5" name="analyst-shape-4"/>
          <p:cNvSpPr/>
          <p:nvPr/>
        </p:nvSpPr>
        <p:spPr>
          <a:xfrm>
            <a:off x="635000" y="1778000"/>
            <a:ext cx="4445000" cy="622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analyst-text-5"/>
          <p:cNvSpPr/>
          <p:nvPr/>
        </p:nvSpPr>
        <p:spPr>
          <a:xfrm>
            <a:off x="1016000" y="2159000"/>
            <a:ext cx="368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operations</a:t>
            </a:r>
            <a:endParaRPr lang="en-US" sz="2200" dirty="0"/>
          </a:p>
        </p:txBody>
      </p:sp>
      <p:sp>
        <p:nvSpPr>
          <p:cNvPr id="7" name="analyst-shape-6"/>
          <p:cNvSpPr/>
          <p:nvPr/>
        </p:nvSpPr>
        <p:spPr>
          <a:xfrm>
            <a:off x="1016000" y="2857500"/>
            <a:ext cx="3619500" cy="787400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/>
        </p:spPr>
      </p:sp>
      <p:pic>
        <p:nvPicPr>
          <p:cNvPr id="8" name="analyst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00" y="3048000"/>
            <a:ext cx="406400" cy="406400"/>
          </a:xfrm>
          <a:prstGeom prst="rect">
            <a:avLst/>
          </a:prstGeom>
        </p:spPr>
      </p:pic>
      <p:sp>
        <p:nvSpPr>
          <p:cNvPr id="9" name="analyst-text-8"/>
          <p:cNvSpPr/>
          <p:nvPr/>
        </p:nvSpPr>
        <p:spPr>
          <a:xfrm>
            <a:off x="1841500" y="2984500"/>
            <a:ext cx="25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triage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+ cases</a:t>
            </a:r>
            <a:endParaRPr lang="en-US" sz="1400" dirty="0"/>
          </a:p>
        </p:txBody>
      </p:sp>
      <p:sp>
        <p:nvSpPr>
          <p:cNvPr id="10" name="analyst-shape-9"/>
          <p:cNvSpPr/>
          <p:nvPr/>
        </p:nvSpPr>
        <p:spPr>
          <a:xfrm>
            <a:off x="1016000" y="3873500"/>
            <a:ext cx="3619500" cy="787400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/>
        </p:spPr>
      </p:sp>
      <p:pic>
        <p:nvPicPr>
          <p:cNvPr id="11" name="analyst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4064000"/>
            <a:ext cx="406400" cy="406400"/>
          </a:xfrm>
          <a:prstGeom prst="rect">
            <a:avLst/>
          </a:prstGeom>
        </p:spPr>
      </p:pic>
      <p:sp>
        <p:nvSpPr>
          <p:cNvPr id="12" name="analyst-text-11"/>
          <p:cNvSpPr/>
          <p:nvPr/>
        </p:nvSpPr>
        <p:spPr>
          <a:xfrm>
            <a:off x="1841500" y="4000500"/>
            <a:ext cx="25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+ SLA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assignment and overdue state</a:t>
            </a:r>
            <a:endParaRPr lang="en-US" sz="1400" dirty="0"/>
          </a:p>
        </p:txBody>
      </p:sp>
      <p:sp>
        <p:nvSpPr>
          <p:cNvPr id="13" name="analyst-shape-12"/>
          <p:cNvSpPr/>
          <p:nvPr/>
        </p:nvSpPr>
        <p:spPr>
          <a:xfrm>
            <a:off x="1016000" y="4889500"/>
            <a:ext cx="36195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analyst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5080000"/>
            <a:ext cx="406400" cy="406400"/>
          </a:xfrm>
          <a:prstGeom prst="rect">
            <a:avLst/>
          </a:prstGeom>
        </p:spPr>
      </p:pic>
      <p:sp>
        <p:nvSpPr>
          <p:cNvPr id="15" name="analyst-text-14"/>
          <p:cNvSpPr/>
          <p:nvPr/>
        </p:nvSpPr>
        <p:spPr>
          <a:xfrm>
            <a:off x="1841500" y="5016500"/>
            <a:ext cx="25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· mentions · history</a:t>
            </a:r>
            <a:endParaRPr lang="en-US" sz="1400" dirty="0"/>
          </a:p>
        </p:txBody>
      </p:sp>
      <p:sp>
        <p:nvSpPr>
          <p:cNvPr id="16" name="analyst-shape-15"/>
          <p:cNvSpPr/>
          <p:nvPr/>
        </p:nvSpPr>
        <p:spPr>
          <a:xfrm>
            <a:off x="1016000" y="5905500"/>
            <a:ext cx="3619500" cy="787400"/>
          </a:xfrm>
          <a:prstGeom prst="roundRect">
            <a:avLst>
              <a:gd name="adj" fmla="val 16129"/>
            </a:avLst>
          </a:prstGeom>
          <a:solidFill>
            <a:srgbClr val="FDE68A"/>
          </a:solidFill>
          <a:ln/>
        </p:spPr>
      </p:sp>
      <p:pic>
        <p:nvPicPr>
          <p:cNvPr id="17" name="analyst-icon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6096000"/>
            <a:ext cx="406400" cy="406400"/>
          </a:xfrm>
          <a:prstGeom prst="rect">
            <a:avLst/>
          </a:prstGeom>
        </p:spPr>
      </p:pic>
      <p:sp>
        <p:nvSpPr>
          <p:cNvPr id="18" name="analyst-text-17"/>
          <p:cNvSpPr/>
          <p:nvPr/>
        </p:nvSpPr>
        <p:spPr>
          <a:xfrm>
            <a:off x="1841500" y="6032500"/>
            <a:ext cx="25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escalation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and exception handoff</a:t>
            </a:r>
            <a:endParaRPr lang="en-US" sz="1400" dirty="0"/>
          </a:p>
        </p:txBody>
      </p:sp>
      <p:sp>
        <p:nvSpPr>
          <p:cNvPr id="19" name="analyst-text-18"/>
          <p:cNvSpPr/>
          <p:nvPr/>
        </p:nvSpPr>
        <p:spPr>
          <a:xfrm>
            <a:off x="1016000" y="7048500"/>
            <a:ext cx="361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personal views and notification read state remain isolated by identity.</a:t>
            </a:r>
            <a:endParaRPr lang="en-US" sz="1400" dirty="0"/>
          </a:p>
        </p:txBody>
      </p:sp>
      <p:sp>
        <p:nvSpPr>
          <p:cNvPr id="20" name="analyst-shape-19"/>
          <p:cNvSpPr/>
          <p:nvPr/>
        </p:nvSpPr>
        <p:spPr>
          <a:xfrm>
            <a:off x="5461000" y="1778000"/>
            <a:ext cx="10160000" cy="622300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analyst-shape-20"/>
          <p:cNvSpPr/>
          <p:nvPr/>
        </p:nvSpPr>
        <p:spPr>
          <a:xfrm>
            <a:off x="5461000" y="1778000"/>
            <a:ext cx="10160000" cy="635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/>
        </p:spPr>
      </p:sp>
      <p:pic>
        <p:nvPicPr>
          <p:cNvPr id="22" name="analyst-image-21" descr="preencoded.png">    </p:cNvPr>
          <p:cNvPicPr>
            <a:picLocks noChangeAspect="1"/>
          </p:cNvPicPr>
          <p:nvPr/>
        </p:nvPicPr>
        <p:blipFill>
          <a:blip r:embed="rId5"/>
          <a:srcRect l="-23006" r="-23006" t="0" b="0"/>
          <a:stretch/>
        </p:blipFill>
        <p:spPr>
          <a:xfrm>
            <a:off x="5689600" y="2032000"/>
            <a:ext cx="9702800" cy="5715000"/>
          </a:xfrm>
          <a:prstGeom prst="roundRect">
            <a:avLst>
              <a:gd name="adj" fmla="val 1778"/>
            </a:avLst>
          </a:prstGeom>
        </p:spPr>
      </p:pic>
      <p:sp>
        <p:nvSpPr>
          <p:cNvPr id="23" name="analyst-text-22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endpoints are capability-protected; Developer access is denied server-side.</a:t>
            </a:r>
            <a:endParaRPr lang="en-US" sz="1200" dirty="0"/>
          </a:p>
        </p:txBody>
      </p:sp>
      <p:sp>
        <p:nvSpPr>
          <p:cNvPr id="24" name="analyst-text-23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so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ciso-text-2"/>
          <p:cNvSpPr/>
          <p:nvPr/>
        </p:nvSpPr>
        <p:spPr>
          <a:xfrm>
            <a:off x="635000" y="381000"/>
            <a:ext cx="1498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 sees the exact decision record—not a summary score</a:t>
            </a:r>
            <a:endParaRPr lang="en-US" sz="3200" dirty="0"/>
          </a:p>
        </p:txBody>
      </p:sp>
      <p:sp>
        <p:nvSpPr>
          <p:cNvPr id="4" name="ciso-text-3"/>
          <p:cNvSpPr/>
          <p:nvPr/>
        </p:nvSpPr>
        <p:spPr>
          <a:xfrm>
            <a:off x="635000" y="1016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command center opens the source policy, exception, case, remediation, and evidence record behind every signal.</a:t>
            </a:r>
            <a:endParaRPr lang="en-US" sz="1800" dirty="0"/>
          </a:p>
        </p:txBody>
      </p:sp>
      <p:sp>
        <p:nvSpPr>
          <p:cNvPr id="5" name="ciso-shape-4"/>
          <p:cNvSpPr/>
          <p:nvPr/>
        </p:nvSpPr>
        <p:spPr>
          <a:xfrm>
            <a:off x="571500" y="1587500"/>
            <a:ext cx="10350500" cy="6604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ciso-shape-5"/>
          <p:cNvSpPr/>
          <p:nvPr/>
        </p:nvSpPr>
        <p:spPr>
          <a:xfrm>
            <a:off x="571500" y="1587500"/>
            <a:ext cx="10350500" cy="635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/>
        </p:spPr>
      </p:sp>
      <p:pic>
        <p:nvPicPr>
          <p:cNvPr id="7" name="ciso-image-6" descr="preencoded.png">    </p:cNvPr>
          <p:cNvPicPr>
            <a:picLocks noChangeAspect="1"/>
          </p:cNvPicPr>
          <p:nvPr/>
        </p:nvPicPr>
        <p:blipFill>
          <a:blip r:embed="rId1"/>
          <a:srcRect l="-19877" r="-19877" t="0" b="0"/>
          <a:stretch/>
        </p:blipFill>
        <p:spPr>
          <a:xfrm>
            <a:off x="787400" y="1841500"/>
            <a:ext cx="9906000" cy="6096000"/>
          </a:xfrm>
          <a:prstGeom prst="roundRect">
            <a:avLst>
              <a:gd name="adj" fmla="val 1667"/>
            </a:avLst>
          </a:prstGeom>
        </p:spPr>
      </p:pic>
      <p:sp>
        <p:nvSpPr>
          <p:cNvPr id="8" name="ciso-shape-7"/>
          <p:cNvSpPr/>
          <p:nvPr/>
        </p:nvSpPr>
        <p:spPr>
          <a:xfrm>
            <a:off x="11303000" y="1587500"/>
            <a:ext cx="4318000" cy="1422400"/>
          </a:xfrm>
          <a:prstGeom prst="roundRect">
            <a:avLst>
              <a:gd name="adj" fmla="val 10714"/>
            </a:avLst>
          </a:prstGeom>
          <a:solidFill>
            <a:srgbClr val="CCFBF1"/>
          </a:solidFill>
          <a:ln/>
        </p:spPr>
      </p:sp>
      <p:sp>
        <p:nvSpPr>
          <p:cNvPr id="9" name="ciso-text-8"/>
          <p:cNvSpPr/>
          <p:nvPr/>
        </p:nvSpPr>
        <p:spPr>
          <a:xfrm>
            <a:off x="11620500" y="1841500"/>
            <a:ext cx="368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CONTROL</a:t>
            </a:r>
            <a:endParaRPr lang="en-US" sz="1400" dirty="0"/>
          </a:p>
        </p:txBody>
      </p:sp>
      <p:sp>
        <p:nvSpPr>
          <p:cNvPr id="10" name="ciso-text-9"/>
          <p:cNvSpPr/>
          <p:nvPr/>
        </p:nvSpPr>
        <p:spPr>
          <a:xfrm>
            <a:off x="11620500" y="2247900"/>
            <a:ext cx="368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versions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digest and effective interval</a:t>
            </a:r>
            <a:endParaRPr lang="en-US" sz="1800" dirty="0"/>
          </a:p>
        </p:txBody>
      </p:sp>
      <p:sp>
        <p:nvSpPr>
          <p:cNvPr id="11" name="ciso-shape-10"/>
          <p:cNvSpPr/>
          <p:nvPr/>
        </p:nvSpPr>
        <p:spPr>
          <a:xfrm>
            <a:off x="11303000" y="3200400"/>
            <a:ext cx="4318000" cy="1422400"/>
          </a:xfrm>
          <a:prstGeom prst="roundRect">
            <a:avLst>
              <a:gd name="adj" fmla="val 10714"/>
            </a:avLst>
          </a:prstGeom>
          <a:solidFill>
            <a:srgbClr val="FDE68A"/>
          </a:solidFill>
          <a:ln/>
        </p:spPr>
      </p:sp>
      <p:sp>
        <p:nvSpPr>
          <p:cNvPr id="12" name="ciso-text-11"/>
          <p:cNvSpPr/>
          <p:nvPr/>
        </p:nvSpPr>
        <p:spPr>
          <a:xfrm>
            <a:off x="11620500" y="3454400"/>
            <a:ext cx="368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DESK</a:t>
            </a:r>
            <a:endParaRPr lang="en-US" sz="1400" dirty="0"/>
          </a:p>
        </p:txBody>
      </p:sp>
      <p:sp>
        <p:nvSpPr>
          <p:cNvPr id="13" name="ciso-text-12"/>
          <p:cNvSpPr/>
          <p:nvPr/>
        </p:nvSpPr>
        <p:spPr>
          <a:xfrm>
            <a:off x="11620500" y="3860800"/>
            <a:ext cx="368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 of duties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Requester cannot decide the request</a:t>
            </a:r>
            <a:endParaRPr lang="en-US" sz="1800" dirty="0"/>
          </a:p>
        </p:txBody>
      </p:sp>
      <p:sp>
        <p:nvSpPr>
          <p:cNvPr id="14" name="ciso-shape-13"/>
          <p:cNvSpPr/>
          <p:nvPr/>
        </p:nvSpPr>
        <p:spPr>
          <a:xfrm>
            <a:off x="11303000" y="4813300"/>
            <a:ext cx="4318000" cy="1422400"/>
          </a:xfrm>
          <a:prstGeom prst="roundRect">
            <a:avLst>
              <a:gd name="adj" fmla="val 10714"/>
            </a:avLst>
          </a:prstGeom>
          <a:solidFill>
            <a:srgbClr val="E8EEF7"/>
          </a:solidFill>
          <a:ln/>
        </p:spPr>
      </p:sp>
      <p:sp>
        <p:nvSpPr>
          <p:cNvPr id="15" name="ciso-text-14"/>
          <p:cNvSpPr/>
          <p:nvPr/>
        </p:nvSpPr>
        <p:spPr>
          <a:xfrm>
            <a:off x="11620500" y="5067300"/>
            <a:ext cx="368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</a:t>
            </a:r>
            <a:endParaRPr lang="en-US" sz="1400" dirty="0"/>
          </a:p>
        </p:txBody>
      </p:sp>
      <p:sp>
        <p:nvSpPr>
          <p:cNvPr id="16" name="ciso-text-15"/>
          <p:cNvSpPr/>
          <p:nvPr/>
        </p:nvSpPr>
        <p:spPr>
          <a:xfrm>
            <a:off x="11620500" y="5473700"/>
            <a:ext cx="368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required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outcome cannot be empty</a:t>
            </a:r>
            <a:endParaRPr lang="en-US" sz="1800" dirty="0"/>
          </a:p>
        </p:txBody>
      </p:sp>
      <p:sp>
        <p:nvSpPr>
          <p:cNvPr id="17" name="ciso-shape-16"/>
          <p:cNvSpPr/>
          <p:nvPr/>
        </p:nvSpPr>
        <p:spPr>
          <a:xfrm>
            <a:off x="11303000" y="6426200"/>
            <a:ext cx="4318000" cy="1422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ciso-text-17"/>
          <p:cNvSpPr/>
          <p:nvPr/>
        </p:nvSpPr>
        <p:spPr>
          <a:xfrm>
            <a:off x="11620500" y="6680200"/>
            <a:ext cx="368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ASSURANCE</a:t>
            </a:r>
            <a:endParaRPr lang="en-US" sz="1400" dirty="0"/>
          </a:p>
        </p:txBody>
      </p:sp>
      <p:sp>
        <p:nvSpPr>
          <p:cNvPr id="19" name="ciso-text-18"/>
          <p:cNvSpPr/>
          <p:nvPr/>
        </p:nvSpPr>
        <p:spPr>
          <a:xfrm>
            <a:off x="11620500" y="7086600"/>
            <a:ext cx="368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coverage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and unscanned stay visible</a:t>
            </a:r>
            <a:endParaRPr lang="en-US" sz="1800" dirty="0"/>
          </a:p>
        </p:txBody>
      </p:sp>
      <p:sp>
        <p:nvSpPr>
          <p:cNvPr id="20" name="ciso-text-19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Priority 5D workspace · desktop and 390 × 844 responsive validation complete</a:t>
            </a:r>
            <a:endParaRPr lang="en-US" sz="1200" dirty="0"/>
          </a:p>
        </p:txBody>
      </p:sp>
      <p:sp>
        <p:nvSpPr>
          <p:cNvPr id="21" name="ciso-text-20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evidence-text-2"/>
          <p:cNvSpPr/>
          <p:nvPr/>
        </p:nvSpPr>
        <p:spPr>
          <a:xfrm>
            <a:off x="635000" y="381000"/>
            <a:ext cx="1498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HyperMesh records native governed relationships</a:t>
            </a:r>
            <a:endParaRPr lang="en-US" sz="3200" dirty="0"/>
          </a:p>
        </p:txBody>
      </p:sp>
      <p:sp>
        <p:nvSpPr>
          <p:cNvPr id="4" name="evidence-text-3"/>
          <p:cNvSpPr/>
          <p:nvPr/>
        </p:nvSpPr>
        <p:spPr>
          <a:xfrm>
            <a:off x="635000" y="1016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graph is evidence written by lifecycle transactions—not a visualization reconstructed from UI labels.</a:t>
            </a:r>
            <a:endParaRPr lang="en-US" sz="1800" dirty="0"/>
          </a:p>
        </p:txBody>
      </p:sp>
      <p:sp>
        <p:nvSpPr>
          <p:cNvPr id="5" name="evidence-text-4"/>
          <p:cNvSpPr/>
          <p:nvPr/>
        </p:nvSpPr>
        <p:spPr>
          <a:xfrm>
            <a:off x="762000" y="1752600"/>
            <a:ext cx="279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AUTHORITATIVE EVENT</a:t>
            </a:r>
            <a:endParaRPr lang="en-US" sz="1400" dirty="0"/>
          </a:p>
        </p:txBody>
      </p:sp>
      <p:sp>
        <p:nvSpPr>
          <p:cNvPr id="6" name="evidence-text-5"/>
          <p:cNvSpPr/>
          <p:nvPr/>
        </p:nvSpPr>
        <p:spPr>
          <a:xfrm>
            <a:off x="4572000" y="1752600"/>
            <a:ext cx="279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CONTRACT</a:t>
            </a:r>
            <a:endParaRPr lang="en-US" sz="1400" dirty="0"/>
          </a:p>
        </p:txBody>
      </p:sp>
      <p:sp>
        <p:nvSpPr>
          <p:cNvPr id="7" name="evidence-text-6"/>
          <p:cNvSpPr/>
          <p:nvPr/>
        </p:nvSpPr>
        <p:spPr>
          <a:xfrm>
            <a:off x="8572500" y="1752600"/>
            <a:ext cx="279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EVIDENCE</a:t>
            </a:r>
            <a:endParaRPr lang="en-US" sz="1400" dirty="0"/>
          </a:p>
        </p:txBody>
      </p:sp>
      <p:sp>
        <p:nvSpPr>
          <p:cNvPr id="8" name="evidence-text-7"/>
          <p:cNvSpPr/>
          <p:nvPr/>
        </p:nvSpPr>
        <p:spPr>
          <a:xfrm>
            <a:off x="12509500" y="1752600"/>
            <a:ext cx="279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RETRIEVAL</a:t>
            </a:r>
            <a:endParaRPr lang="en-US" sz="1400" dirty="0"/>
          </a:p>
        </p:txBody>
      </p:sp>
      <p:sp>
        <p:nvSpPr>
          <p:cNvPr id="9" name="evidence-shape-8"/>
          <p:cNvSpPr/>
          <p:nvPr/>
        </p:nvSpPr>
        <p:spPr>
          <a:xfrm>
            <a:off x="698500" y="2349500"/>
            <a:ext cx="2984500" cy="1397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evidence-icon-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730500"/>
            <a:ext cx="457200" cy="457200"/>
          </a:xfrm>
          <a:prstGeom prst="rect">
            <a:avLst/>
          </a:prstGeom>
        </p:spPr>
      </p:pic>
      <p:sp>
        <p:nvSpPr>
          <p:cNvPr id="11" name="evidence-text-10"/>
          <p:cNvSpPr/>
          <p:nvPr/>
        </p:nvSpPr>
        <p:spPr>
          <a:xfrm>
            <a:off x="1587500" y="260350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activity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· package · policy evaluation</a:t>
            </a:r>
            <a:endParaRPr lang="en-US" sz="1400" dirty="0"/>
          </a:p>
        </p:txBody>
      </p:sp>
      <p:sp>
        <p:nvSpPr>
          <p:cNvPr id="12" name="evidence-shape-11"/>
          <p:cNvSpPr/>
          <p:nvPr/>
        </p:nvSpPr>
        <p:spPr>
          <a:xfrm>
            <a:off x="698500" y="4127500"/>
            <a:ext cx="2984500" cy="1397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evidence-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508500"/>
            <a:ext cx="457200" cy="457200"/>
          </a:xfrm>
          <a:prstGeom prst="rect">
            <a:avLst/>
          </a:prstGeom>
        </p:spPr>
      </p:pic>
      <p:sp>
        <p:nvSpPr>
          <p:cNvPr id="14" name="evidence-text-13"/>
          <p:cNvSpPr/>
          <p:nvPr/>
        </p:nvSpPr>
        <p:spPr>
          <a:xfrm>
            <a:off x="1587500" y="438150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+ case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· decision · verification</a:t>
            </a:r>
            <a:endParaRPr lang="en-US" sz="1400" dirty="0"/>
          </a:p>
        </p:txBody>
      </p:sp>
      <p:sp>
        <p:nvSpPr>
          <p:cNvPr id="15" name="evidence-shape-14"/>
          <p:cNvSpPr/>
          <p:nvPr/>
        </p:nvSpPr>
        <p:spPr>
          <a:xfrm>
            <a:off x="698500" y="5905500"/>
            <a:ext cx="2984500" cy="1397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evidence-icon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286500"/>
            <a:ext cx="457200" cy="457200"/>
          </a:xfrm>
          <a:prstGeom prst="rect">
            <a:avLst/>
          </a:prstGeom>
        </p:spPr>
      </p:pic>
      <p:sp>
        <p:nvSpPr>
          <p:cNvPr id="17" name="evidence-text-16"/>
          <p:cNvSpPr/>
          <p:nvPr/>
        </p:nvSpPr>
        <p:spPr>
          <a:xfrm>
            <a:off x="1587500" y="6159500"/>
            <a:ext cx="184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event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· exception · expiry</a:t>
            </a:r>
            <a:endParaRPr lang="en-US" sz="1400" dirty="0"/>
          </a:p>
        </p:txBody>
      </p:sp>
      <p:sp>
        <p:nvSpPr>
          <p:cNvPr id="18" name="evidence-shape-17"/>
          <p:cNvSpPr/>
          <p:nvPr/>
        </p:nvSpPr>
        <p:spPr>
          <a:xfrm>
            <a:off x="3810000" y="4445000"/>
            <a:ext cx="952500" cy="609600"/>
          </a:xfrm>
          <a:prstGeom prst="rightArrow">
            <a:avLst/>
          </a:prstGeom>
          <a:solidFill>
            <a:srgbClr val="E8EEF7"/>
          </a:solidFill>
          <a:ln/>
        </p:spPr>
      </p:sp>
      <p:sp>
        <p:nvSpPr>
          <p:cNvPr id="19" name="evidence-shape-18"/>
          <p:cNvSpPr/>
          <p:nvPr/>
        </p:nvSpPr>
        <p:spPr>
          <a:xfrm>
            <a:off x="4635500" y="3175000"/>
            <a:ext cx="2857500" cy="31750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pic>
        <p:nvPicPr>
          <p:cNvPr id="20" name="evidence-icon-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600" y="3556000"/>
            <a:ext cx="685800" cy="685800"/>
          </a:xfrm>
          <a:prstGeom prst="rect">
            <a:avLst/>
          </a:prstGeom>
        </p:spPr>
      </p:pic>
      <p:sp>
        <p:nvSpPr>
          <p:cNvPr id="21" name="evidence-text-20"/>
          <p:cNvSpPr/>
          <p:nvPr/>
        </p:nvSpPr>
        <p:spPr>
          <a:xfrm>
            <a:off x="4953000" y="4445000"/>
            <a:ext cx="222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outbox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payload · SHA-256 · retry state</a:t>
            </a:r>
            <a:endParaRPr lang="en-US" sz="1800" dirty="0"/>
          </a:p>
        </p:txBody>
      </p:sp>
      <p:sp>
        <p:nvSpPr>
          <p:cNvPr id="22" name="evidence-shape-21"/>
          <p:cNvSpPr/>
          <p:nvPr/>
        </p:nvSpPr>
        <p:spPr>
          <a:xfrm>
            <a:off x="5080000" y="5689600"/>
            <a:ext cx="1968500" cy="381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/>
        </p:spPr>
      </p:sp>
      <p:sp>
        <p:nvSpPr>
          <p:cNvPr id="23" name="evidence-text-22"/>
          <p:cNvSpPr/>
          <p:nvPr/>
        </p:nvSpPr>
        <p:spPr>
          <a:xfrm>
            <a:off x="5080000" y="5689600"/>
            <a:ext cx="196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once · retry safely</a:t>
            </a:r>
            <a:endParaRPr lang="en-US" sz="1200" dirty="0"/>
          </a:p>
        </p:txBody>
      </p:sp>
      <p:sp>
        <p:nvSpPr>
          <p:cNvPr id="24" name="evidence-shape-23"/>
          <p:cNvSpPr/>
          <p:nvPr/>
        </p:nvSpPr>
        <p:spPr>
          <a:xfrm>
            <a:off x="7683500" y="4445000"/>
            <a:ext cx="952500" cy="609600"/>
          </a:xfrm>
          <a:prstGeom prst="rightArrow">
            <a:avLst/>
          </a:prstGeom>
          <a:solidFill>
            <a:srgbClr val="CCFBF1"/>
          </a:solidFill>
          <a:ln/>
        </p:spPr>
      </p:sp>
      <p:sp>
        <p:nvSpPr>
          <p:cNvPr id="25" name="evidence-shape-24"/>
          <p:cNvSpPr/>
          <p:nvPr/>
        </p:nvSpPr>
        <p:spPr>
          <a:xfrm>
            <a:off x="9080500" y="2603500"/>
            <a:ext cx="2032000" cy="2032000"/>
          </a:xfrm>
          <a:prstGeom prst="ellipse">
            <a:avLst/>
          </a:prstGeom>
          <a:solidFill>
            <a:srgbClr val="CCFBF1"/>
          </a:solidFill>
          <a:ln w="25400">
            <a:solidFill>
              <a:srgbClr val="0F766E"/>
            </a:solidFill>
            <a:prstDash val="solid"/>
          </a:ln>
        </p:spPr>
      </p:sp>
      <p:pic>
        <p:nvPicPr>
          <p:cNvPr id="26" name="evidence-icon-2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048000"/>
            <a:ext cx="762000" cy="762000"/>
          </a:xfrm>
          <a:prstGeom prst="rect">
            <a:avLst/>
          </a:prstGeom>
        </p:spPr>
      </p:pic>
      <p:sp>
        <p:nvSpPr>
          <p:cNvPr id="27" name="evidence-text-26"/>
          <p:cNvSpPr/>
          <p:nvPr/>
        </p:nvSpPr>
        <p:spPr>
          <a:xfrm>
            <a:off x="9334500" y="3937000"/>
            <a:ext cx="15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HyperMesh</a:t>
            </a:r>
            <a:endParaRPr lang="en-US" sz="1400" dirty="0"/>
          </a:p>
        </p:txBody>
      </p:sp>
      <p:sp>
        <p:nvSpPr>
          <p:cNvPr id="28" name="evidence-shape-27"/>
          <p:cNvSpPr/>
          <p:nvPr/>
        </p:nvSpPr>
        <p:spPr>
          <a:xfrm>
            <a:off x="10096500" y="4635500"/>
            <a:ext cx="9144" cy="825500"/>
          </a:xfrm>
          <a:prstGeom prst="line">
            <a:avLst/>
          </a:prstGeom>
          <a:ln w="25400">
            <a:solidFill>
              <a:srgbClr val="0F766E"/>
            </a:solidFill>
            <a:prstDash val="solid"/>
          </a:ln>
        </p:spPr>
      </p:sp>
      <p:sp>
        <p:nvSpPr>
          <p:cNvPr id="29" name="evidence-shape-28"/>
          <p:cNvSpPr/>
          <p:nvPr/>
        </p:nvSpPr>
        <p:spPr>
          <a:xfrm>
            <a:off x="8699500" y="5461000"/>
            <a:ext cx="2794000" cy="165100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evidence-text-29"/>
          <p:cNvSpPr/>
          <p:nvPr/>
        </p:nvSpPr>
        <p:spPr>
          <a:xfrm>
            <a:off x="8953500" y="5740400"/>
            <a:ext cx="2286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episode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ULID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relation vocabulary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ancestry</a:t>
            </a:r>
            <a:endParaRPr lang="en-US" sz="1400" dirty="0"/>
          </a:p>
        </p:txBody>
      </p:sp>
      <p:sp>
        <p:nvSpPr>
          <p:cNvPr id="31" name="evidence-shape-30"/>
          <p:cNvSpPr/>
          <p:nvPr/>
        </p:nvSpPr>
        <p:spPr>
          <a:xfrm>
            <a:off x="11684000" y="4445000"/>
            <a:ext cx="952500" cy="609600"/>
          </a:xfrm>
          <a:prstGeom prst="rightArrow">
            <a:avLst/>
          </a:prstGeom>
          <a:solidFill>
            <a:srgbClr val="E8EEF7"/>
          </a:solidFill>
          <a:ln/>
        </p:spPr>
      </p:sp>
      <p:sp>
        <p:nvSpPr>
          <p:cNvPr id="32" name="evidence-shape-31"/>
          <p:cNvSpPr/>
          <p:nvPr/>
        </p:nvSpPr>
        <p:spPr>
          <a:xfrm>
            <a:off x="12573000" y="2794000"/>
            <a:ext cx="29845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evidence-text-32"/>
          <p:cNvSpPr/>
          <p:nvPr/>
        </p:nvSpPr>
        <p:spPr>
          <a:xfrm>
            <a:off x="12827000" y="3073400"/>
            <a:ext cx="2476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graph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Policy-only roots and ancestry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exception field leakage</a:t>
            </a:r>
            <a:endParaRPr lang="en-US" sz="1400" dirty="0"/>
          </a:p>
        </p:txBody>
      </p:sp>
      <p:sp>
        <p:nvSpPr>
          <p:cNvPr id="34" name="evidence-shape-33"/>
          <p:cNvSpPr/>
          <p:nvPr/>
        </p:nvSpPr>
        <p:spPr>
          <a:xfrm>
            <a:off x="12573000" y="4953000"/>
            <a:ext cx="29845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evidence-text-34"/>
          <p:cNvSpPr/>
          <p:nvPr/>
        </p:nvSpPr>
        <p:spPr>
          <a:xfrm>
            <a:off x="12827000" y="5232400"/>
            <a:ext cx="2476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graph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and decision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policy ancestry</a:t>
            </a:r>
            <a:endParaRPr lang="en-US" sz="1400" dirty="0"/>
          </a:p>
        </p:txBody>
      </p:sp>
      <p:sp>
        <p:nvSpPr>
          <p:cNvPr id="36" name="evidence-shape-35"/>
          <p:cNvSpPr/>
          <p:nvPr/>
        </p:nvSpPr>
        <p:spPr>
          <a:xfrm>
            <a:off x="12573000" y="6858000"/>
            <a:ext cx="2984500" cy="571500"/>
          </a:xfrm>
          <a:prstGeom prst="roundRect">
            <a:avLst>
              <a:gd name="adj" fmla="val 22222"/>
            </a:avLst>
          </a:prstGeom>
          <a:solidFill>
            <a:srgbClr val="FDE68A"/>
          </a:solidFill>
          <a:ln/>
        </p:spPr>
      </p:sp>
      <p:sp>
        <p:nvSpPr>
          <p:cNvPr id="37" name="evidence-text-36"/>
          <p:cNvSpPr/>
          <p:nvPr/>
        </p:nvSpPr>
        <p:spPr>
          <a:xfrm>
            <a:off x="12573000" y="68580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projection is not served</a:t>
            </a:r>
            <a:endParaRPr lang="en-US" sz="1400" dirty="0"/>
          </a:p>
        </p:txBody>
      </p:sp>
      <p:sp>
        <p:nvSpPr>
          <p:cNvPr id="38" name="evidence-text-37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ledgers own workflow state; HyperMesh owns governed evidence and provenance.</a:t>
            </a:r>
            <a:endParaRPr lang="en-US" sz="1200" dirty="0"/>
          </a:p>
        </p:txBody>
      </p:sp>
      <p:sp>
        <p:nvSpPr>
          <p:cNvPr id="39" name="evidence-text-38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ve_demo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live_demo-text-2"/>
          <p:cNvSpPr/>
          <p:nvPr/>
        </p:nvSpPr>
        <p:spPr>
          <a:xfrm>
            <a:off x="635000" y="406400"/>
            <a:ext cx="149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25-minute live demonstration using real Cursor and GitHub work</a:t>
            </a:r>
            <a:endParaRPr lang="en-US" sz="3200" dirty="0"/>
          </a:p>
        </p:txBody>
      </p:sp>
      <p:sp>
        <p:nvSpPr>
          <p:cNvPr id="4" name="live_demo-text-3"/>
          <p:cNvSpPr/>
          <p:nvPr/>
        </p:nvSpPr>
        <p:spPr>
          <a:xfrm>
            <a:off x="635000" y="10668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session is created during the meeting. Seeded reference records are not presented as client activity.</a:t>
            </a:r>
            <a:endParaRPr lang="en-US" sz="1800" dirty="0"/>
          </a:p>
        </p:txBody>
      </p:sp>
      <p:sp>
        <p:nvSpPr>
          <p:cNvPr id="5" name="live_demo-shape-4"/>
          <p:cNvSpPr/>
          <p:nvPr/>
        </p:nvSpPr>
        <p:spPr>
          <a:xfrm>
            <a:off x="1270000" y="4191000"/>
            <a:ext cx="13716000" cy="9144"/>
          </a:xfrm>
          <a:prstGeom prst="line">
            <a:avLst/>
          </a:prstGeom>
          <a:ln w="76200">
            <a:solidFill>
              <a:srgbClr val="E2E8F0"/>
            </a:solidFill>
            <a:prstDash val="solid"/>
          </a:ln>
        </p:spPr>
      </p:sp>
      <p:sp>
        <p:nvSpPr>
          <p:cNvPr id="6" name="live_demo-shape-5"/>
          <p:cNvSpPr/>
          <p:nvPr/>
        </p:nvSpPr>
        <p:spPr>
          <a:xfrm>
            <a:off x="1079500" y="3937000"/>
            <a:ext cx="508000" cy="508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live_demo-shape-6"/>
          <p:cNvSpPr/>
          <p:nvPr/>
        </p:nvSpPr>
        <p:spPr>
          <a:xfrm>
            <a:off x="3746500" y="3937000"/>
            <a:ext cx="508000" cy="508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live_demo-shape-7"/>
          <p:cNvSpPr/>
          <p:nvPr/>
        </p:nvSpPr>
        <p:spPr>
          <a:xfrm>
            <a:off x="6540500" y="3937000"/>
            <a:ext cx="508000" cy="5080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live_demo-shape-8"/>
          <p:cNvSpPr/>
          <p:nvPr/>
        </p:nvSpPr>
        <p:spPr>
          <a:xfrm>
            <a:off x="9334500" y="3937000"/>
            <a:ext cx="508000" cy="508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live_demo-shape-9"/>
          <p:cNvSpPr/>
          <p:nvPr/>
        </p:nvSpPr>
        <p:spPr>
          <a:xfrm>
            <a:off x="12128500" y="3937000"/>
            <a:ext cx="508000" cy="508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live_demo-shape-10"/>
          <p:cNvSpPr/>
          <p:nvPr/>
        </p:nvSpPr>
        <p:spPr>
          <a:xfrm>
            <a:off x="14668500" y="3937000"/>
            <a:ext cx="508000" cy="508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live_demo-text-11"/>
          <p:cNvSpPr/>
          <p:nvPr/>
        </p:nvSpPr>
        <p:spPr>
          <a:xfrm>
            <a:off x="762000" y="2032000"/>
            <a:ext cx="215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codes; MeshAgent governs</a:t>
            </a:r>
            <a:endParaRPr lang="en-US" sz="1400" dirty="0"/>
          </a:p>
        </p:txBody>
      </p:sp>
      <p:sp>
        <p:nvSpPr>
          <p:cNvPr id="13" name="live_demo-text-12"/>
          <p:cNvSpPr/>
          <p:nvPr/>
        </p:nvSpPr>
        <p:spPr>
          <a:xfrm>
            <a:off x="3175000" y="4762500"/>
            <a:ext cx="177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2–6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· edit · package gate</a:t>
            </a:r>
            <a:endParaRPr lang="en-US" sz="1400" dirty="0"/>
          </a:p>
        </p:txBody>
      </p:sp>
      <p:sp>
        <p:nvSpPr>
          <p:cNvPr id="14" name="live_demo-text-13"/>
          <p:cNvSpPr/>
          <p:nvPr/>
        </p:nvSpPr>
        <p:spPr>
          <a:xfrm>
            <a:off x="5969000" y="2032000"/>
            <a:ext cx="17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6–14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+ Analyst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· assign · note · case</a:t>
            </a:r>
            <a:endParaRPr lang="en-US" sz="1400" dirty="0"/>
          </a:p>
        </p:txBody>
      </p:sp>
      <p:sp>
        <p:nvSpPr>
          <p:cNvPr id="15" name="live_demo-text-14"/>
          <p:cNvSpPr/>
          <p:nvPr/>
        </p:nvSpPr>
        <p:spPr>
          <a:xfrm>
            <a:off x="8763000" y="4762500"/>
            <a:ext cx="17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14–21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+ CISO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· decision</a:t>
            </a:r>
            <a:endParaRPr lang="en-US" sz="1400" dirty="0"/>
          </a:p>
        </p:txBody>
      </p:sp>
      <p:sp>
        <p:nvSpPr>
          <p:cNvPr id="16" name="live_demo-text-15"/>
          <p:cNvSpPr/>
          <p:nvPr/>
        </p:nvSpPr>
        <p:spPr>
          <a:xfrm>
            <a:off x="11557000" y="2032000"/>
            <a:ext cx="17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21–23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· remediation</a:t>
            </a:r>
            <a:endParaRPr lang="en-US" sz="1400" dirty="0"/>
          </a:p>
        </p:txBody>
      </p:sp>
      <p:sp>
        <p:nvSpPr>
          <p:cNvPr id="17" name="live_demo-text-16"/>
          <p:cNvSpPr/>
          <p:nvPr/>
        </p:nvSpPr>
        <p:spPr>
          <a:xfrm>
            <a:off x="14097000" y="4762500"/>
            <a:ext cx="17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23–25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400" dirty="0"/>
          </a:p>
          <a:p>
            <a:pPr algn="ct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version · Git push</a:t>
            </a:r>
            <a:endParaRPr lang="en-US" sz="1400" dirty="0"/>
          </a:p>
        </p:txBody>
      </p:sp>
      <p:sp>
        <p:nvSpPr>
          <p:cNvPr id="18" name="live_demo-shape-17"/>
          <p:cNvSpPr/>
          <p:nvPr/>
        </p:nvSpPr>
        <p:spPr>
          <a:xfrm>
            <a:off x="2032000" y="6921500"/>
            <a:ext cx="12192000" cy="889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9" name="live_demo-icon-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0" y="7150100"/>
            <a:ext cx="457200" cy="457200"/>
          </a:xfrm>
          <a:prstGeom prst="rect">
            <a:avLst/>
          </a:prstGeom>
        </p:spPr>
      </p:pic>
      <p:sp>
        <p:nvSpPr>
          <p:cNvPr id="20" name="live_demo-text-19"/>
          <p:cNvSpPr/>
          <p:nvPr/>
        </p:nvSpPr>
        <p:spPr>
          <a:xfrm>
            <a:off x="3111500" y="7048500"/>
            <a:ext cx="1060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in v1:</a:t>
            </a: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 clone, remote, branch, commit, and normal push. Pull-request and issue webhook ingestion are not claimed.</a:t>
            </a:r>
            <a:endParaRPr lang="en-US" sz="1400" dirty="0"/>
          </a:p>
        </p:txBody>
      </p:sp>
      <p:sp>
        <p:nvSpPr>
          <p:cNvPr id="21" name="live_demo-text-20"/>
          <p:cNvSpPr/>
          <p:nvPr/>
        </p:nvSpPr>
        <p:spPr>
          <a:xfrm>
            <a:off x="635000" y="8572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Contingency: local replay preserves the accepted causal prefix when the service is temporarily unavailable.</a:t>
            </a:r>
            <a:endParaRPr lang="en-US" sz="1200" dirty="0"/>
          </a:p>
        </p:txBody>
      </p:sp>
      <p:sp>
        <p:nvSpPr>
          <p:cNvPr id="22" name="live_demo-text-21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adiness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readiness-text-2"/>
          <p:cNvSpPr/>
          <p:nvPr/>
        </p:nvSpPr>
        <p:spPr>
          <a:xfrm>
            <a:off x="635000" y="406400"/>
            <a:ext cx="149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a controlled client demo; production deployment remains explicit</a:t>
            </a:r>
            <a:endParaRPr lang="en-US" sz="3200" dirty="0"/>
          </a:p>
        </p:txBody>
      </p:sp>
      <p:sp>
        <p:nvSpPr>
          <p:cNvPr id="4" name="readiness-text-3"/>
          <p:cNvSpPr/>
          <p:nvPr/>
        </p:nvSpPr>
        <p:spPr>
          <a:xfrm>
            <a:off x="635000" y="10668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package includes source, images, install/runbook documentation, recovery procedures, and this editable presentation.</a:t>
            </a:r>
            <a:endParaRPr lang="en-US" sz="1800" dirty="0"/>
          </a:p>
        </p:txBody>
      </p:sp>
      <p:sp>
        <p:nvSpPr>
          <p:cNvPr id="5" name="readiness-shape-4"/>
          <p:cNvSpPr/>
          <p:nvPr/>
        </p:nvSpPr>
        <p:spPr>
          <a:xfrm>
            <a:off x="635000" y="1841500"/>
            <a:ext cx="7175500" cy="552450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readiness-shape-5"/>
          <p:cNvSpPr/>
          <p:nvPr/>
        </p:nvSpPr>
        <p:spPr>
          <a:xfrm>
            <a:off x="635000" y="1841500"/>
            <a:ext cx="7175500" cy="635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7" name="readiness-text-6"/>
          <p:cNvSpPr/>
          <p:nvPr/>
        </p:nvSpPr>
        <p:spPr>
          <a:xfrm>
            <a:off x="1016000" y="2260600"/>
            <a:ext cx="641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Demo-qualified scope</a:t>
            </a:r>
            <a:endParaRPr lang="en-US" sz="2200" dirty="0"/>
          </a:p>
        </p:txBody>
      </p:sp>
      <p:sp>
        <p:nvSpPr>
          <p:cNvPr id="8" name="readiness-text-7"/>
          <p:cNvSpPr/>
          <p:nvPr/>
        </p:nvSpPr>
        <p:spPr>
          <a:xfrm>
            <a:off x="1079500" y="2984500"/>
            <a:ext cx="6223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 Cursor session and Git repository context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Durable package evidence and Developer review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Analyst queue, assignment, SLA, notes, case, and exception handoff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CISO policy, approval, exception, remediation, and reports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Native HyperMesh evidence with digest checks and scoped retrieval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Mac Docker Compose path and read-only preflight</a:t>
            </a:r>
            <a:endParaRPr lang="en-US" sz="1800" dirty="0"/>
          </a:p>
        </p:txBody>
      </p:sp>
      <p:sp>
        <p:nvSpPr>
          <p:cNvPr id="9" name="readiness-shape-8"/>
          <p:cNvSpPr/>
          <p:nvPr/>
        </p:nvSpPr>
        <p:spPr>
          <a:xfrm>
            <a:off x="8255000" y="1841500"/>
            <a:ext cx="7366000" cy="552450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readiness-shape-9"/>
          <p:cNvSpPr/>
          <p:nvPr/>
        </p:nvSpPr>
        <p:spPr>
          <a:xfrm>
            <a:off x="8255000" y="1841500"/>
            <a:ext cx="7366000" cy="6350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/>
        </p:spPr>
      </p:sp>
      <p:sp>
        <p:nvSpPr>
          <p:cNvPr id="11" name="readiness-text-10"/>
          <p:cNvSpPr/>
          <p:nvPr/>
        </p:nvSpPr>
        <p:spPr>
          <a:xfrm>
            <a:off x="8636000" y="2260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production acceptance</a:t>
            </a:r>
            <a:endParaRPr lang="en-US" sz="2200" dirty="0"/>
          </a:p>
        </p:txBody>
      </p:sp>
      <p:sp>
        <p:nvSpPr>
          <p:cNvPr id="12" name="readiness-text-11"/>
          <p:cNvSpPr/>
          <p:nvPr/>
        </p:nvSpPr>
        <p:spPr>
          <a:xfrm>
            <a:off x="8699500" y="29845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Configure OpenID Connect and distinct Analyst/CISO groups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customer Transport Layer Security ingress and network controls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Approve retention, backup encryption, and recovery custody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 monitoring, incident response, and change control</a:t>
            </a:r>
            <a:endParaRPr lang="en-US" sz="180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alt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 customer acceptance with real storage and identity</a:t>
            </a:r>
            <a:endParaRPr lang="en-US" sz="1800" dirty="0"/>
          </a:p>
        </p:txBody>
      </p:sp>
      <p:sp>
        <p:nvSpPr>
          <p:cNvPr id="13" name="readiness-shape-12"/>
          <p:cNvSpPr/>
          <p:nvPr/>
        </p:nvSpPr>
        <p:spPr>
          <a:xfrm>
            <a:off x="8699500" y="6350000"/>
            <a:ext cx="6350000" cy="609600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/>
        </p:spPr>
      </p:sp>
      <p:sp>
        <p:nvSpPr>
          <p:cNvPr id="14" name="readiness-text-13"/>
          <p:cNvSpPr/>
          <p:nvPr/>
        </p:nvSpPr>
        <p:spPr>
          <a:xfrm>
            <a:off x="8699500" y="6350000"/>
            <a:ext cx="635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is single-tenant and one-writer per state directory</a:t>
            </a:r>
            <a:endParaRPr lang="en-US" sz="1400" dirty="0"/>
          </a:p>
        </p:txBody>
      </p:sp>
      <p:sp>
        <p:nvSpPr>
          <p:cNvPr id="15" name="readiness-shape-14"/>
          <p:cNvSpPr/>
          <p:nvPr/>
        </p:nvSpPr>
        <p:spPr>
          <a:xfrm>
            <a:off x="2794000" y="7747000"/>
            <a:ext cx="10668000" cy="57150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/>
        </p:spPr>
      </p:sp>
      <p:sp>
        <p:nvSpPr>
          <p:cNvPr id="16" name="readiness-text-15"/>
          <p:cNvSpPr/>
          <p:nvPr/>
        </p:nvSpPr>
        <p:spPr>
          <a:xfrm>
            <a:off x="2794000" y="7747000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the live workflow with the client’s approved repository and policy</a:t>
            </a:r>
            <a:endParaRPr lang="en-US" sz="1800" dirty="0"/>
          </a:p>
        </p:txBody>
      </p:sp>
      <p:sp>
        <p:nvSpPr>
          <p:cNvPr id="17" name="readiness-text-16"/>
          <p:cNvSpPr/>
          <p:nvPr/>
        </p:nvSpPr>
        <p:spPr>
          <a:xfrm>
            <a:off x="635000" y="85725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alan.morgan@transformativeaiholding.com</a:t>
            </a:r>
            <a:endParaRPr lang="en-US" sz="1200" dirty="0"/>
          </a:p>
        </p:txBody>
      </p:sp>
      <p:sp>
        <p:nvSpPr>
          <p:cNvPr id="18" name="readiness-text-17"/>
          <p:cNvSpPr/>
          <p:nvPr/>
        </p:nvSpPr>
        <p:spPr>
          <a:xfrm>
            <a:off x="14097000" y="85725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MeshAgent — Governed Control Plane for Connected Coding Agents</dc:title>
  <dc:subject>MeshAgent — Governed Control Plane for Connected Coding Agents</dc:subject>
  <dc:creator>Manus</dc:creator>
  <cp:lastModifiedBy>Manus</cp:lastModifiedBy>
  <cp:revision>1</cp:revision>
  <dcterms:created xsi:type="dcterms:W3CDTF">2026-09-25T01:32:47Z</dcterms:created>
  <dcterms:modified xsi:type="dcterms:W3CDTF">2026-09-25T01:32:47Z</dcterms:modified>
</cp:coreProperties>
</file>